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POESIA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Company Profile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 · 서비스 · AI   |   AI 기술로 일상을 혁신합니다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2C8CE"/>
                </a:solidFill>
                <a:latin typeface="Malgun Gothic"/>
                <a:ea typeface="Malgun Gothic"/>
                <a:cs typeface="Malgun Gothic"/>
              </a:rPr>
              <a:t>You First You Always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경기도 남양주시 화도읍 마석중앙로37번길 45, 504호-D152호(별나라프라자)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E-mail  hello@smilewithpoesia.com   ·   www.smilewithpoesia.com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회사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검증된 수행 경험의 SI 파트너이자, 직접 만들고 운영하는 서비스 회사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31720"/>
          <a:ext cx="76809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회사명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주식회사 포에시아 (POESIA)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대표이사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조연우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설립일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2023. 03. 02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사업자등록번호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475-87-02542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소재지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경기도 남양주시 화도읍 마석중앙로37번길 45, 504호-D152호(별나라프라자)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TEL [확인]  ·  hello@smilewithpoesia.com  ·  www.smilewithpoesia.com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사업분야</a:t>
                      </a:r>
                    </a:p>
                  </a:txBody>
                  <a:tcPr anchor="ctr" marL="109728" marT="36576" marB="36576">
                    <a:solidFill>
                      <a:srgbClr val="FBE9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25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정보통신업 / 전문·과학·기술서비스업 (응용·시스템 SW 개발·공급, 학술·연구용역)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732520" y="2331720"/>
            <a:ext cx="2651760" cy="3200400"/>
          </a:xfrm>
          <a:prstGeom prst="rect">
            <a:avLst/>
          </a:prstGeom>
          <a:solidFill>
            <a:srgbClr val="2B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514600"/>
            <a:ext cx="2286000" cy="2834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FF5B7F"/>
                </a:solidFill>
                <a:latin typeface="Malgun Gothic"/>
                <a:ea typeface="Malgun Gothic"/>
                <a:cs typeface="Malgun Gothic"/>
              </a:rPr>
              <a:t>기업부설연구소</a:t>
            </a:r>
          </a:p>
          <a:p>
            <a:pPr algn="ctr">
              <a:lnSpc>
                <a:spcPct val="110000"/>
              </a:lnSpc>
              <a:spcAft>
                <a:spcPts val="1600"/>
              </a:spcAft>
            </a:pPr>
            <a:r>
              <a:rPr sz="1100" b="0">
                <a:solidFill>
                  <a:srgbClr val="CFCFD6"/>
                </a:solidFill>
                <a:latin typeface="Malgun Gothic"/>
                <a:ea typeface="Malgun Gothic"/>
                <a:cs typeface="Malgun Gothic"/>
              </a:rPr>
              <a:t>2024.08 설립 · 자체 R&amp;D 역량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AI를 SI·서비스에 결합하는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통합 · 운영 · 보안 역량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WHY POESIA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우리는 '파는 회사'가 아니라 '실행하고 운영하는 회사'입니다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301898" cy="356616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59152"/>
            <a:ext cx="2789834" cy="30540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01 DELIVERY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실행력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공공·금융·BPO·플랫폼 등 실제 프로젝트를 수행해 온 경험.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요구분석 → 설계 → 개발 → 운영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끝까지 책임지는 수행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4898" y="2103120"/>
            <a:ext cx="3301898" cy="356616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930" y="2359152"/>
            <a:ext cx="2789834" cy="30540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02 OPERATION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운영 경험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제안서가 아니라 실제 서비스를 직접 만들고 운영합니다.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자체 서비스 AXDevHub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뮤직 플랫폼 구축·운영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제품·운영 노하우 내재화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6836" y="2103120"/>
            <a:ext cx="3301898" cy="356616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2868" y="2359152"/>
            <a:ext cx="2789834" cy="30540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03 CAPABILITY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AI 결합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AI 상향평준화 시대, 진짜 경쟁력은 모델 보유가 아닙니다.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통합·운영·도메인·보안 역량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SI·서비스에 AI를 '결합'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사업영역 — 3대 사업축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실행하는 SI, 직접 운영하는 서비스, 이를 받치는 AI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01898" cy="36118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04872"/>
            <a:ext cx="2789834" cy="30998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01 · SI · SM (매출 기반)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SI · 시스템 구축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공공·금융·유통·제조 정보시스템의 구축·고도화·유지운영.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시스템 통합(SI)·유지운영(SM)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AICC·챗봇·데이터 융복합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요구분석→설계→개발→운영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4898" y="2148840"/>
            <a:ext cx="3301898" cy="361188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930" y="2404872"/>
            <a:ext cx="2789834" cy="30998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02 · SERVICE (성장)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자체 서비스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직접 만들고 운영하는 서비스로 성장합니다.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AXDevHub — 개발 생태계 허브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구독형 AI 서비스(AICC)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운영 기반 부가가치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6836" y="2148840"/>
            <a:ext cx="3301898" cy="36118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2868" y="2404872"/>
            <a:ext cx="2789834" cy="30998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03 · SOLUTION (차별화)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AI 역량 · 기술 자산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SI·서비스에 바로 결합하는 AI 기술 자산.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음성(STT·TTS)·보안(Defence)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생성형 챗봇·콜봇(RAG/LLM)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AICC·업무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주요 수행실적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제안이 아니라, 실제로 만든 결과로 말합니다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4303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3200400"/>
                <a:gridCol w="2770632"/>
              </a:tblGrid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</a:t>
                      </a:r>
                    </a:p>
                  </a:txBody>
                  <a:tcPr anchor="ctr" marL="128016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/ 구분</a:t>
                      </a:r>
                    </a:p>
                  </a:txBody>
                  <a:tcPr anchor="ctr" marL="128016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anchor="ctr" marL="128016">
                    <a:solidFill>
                      <a:srgbClr val="C8102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뮤직 플랫폼 구축 및 운영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음악 서비스 플랫폼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구축 및 운영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상담지원시스템 개발·운영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글로벌 BPO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및 운영 참여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자동평가(AutoQA) 개발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카드사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후처리 자동화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민원신고 챗봇 개발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공공기관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참여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혜택정보 제공 콜봇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카드사 연구과제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MRC·RAG 기반 개발</a:t>
                      </a:r>
                    </a:p>
                  </a:txBody>
                  <a:tcPr anchor="ctr" marL="128016">
                    <a:solidFill>
                      <a:srgbClr val="F4F4F7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1">
                          <a:solidFill>
                            <a:srgbClr val="2B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위치기반 서비스 개발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세스코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300" b="0">
                          <a:solidFill>
                            <a:srgbClr val="5A5A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참여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※ 고객사 실명·성과 수치 공개 범위는 확인 후 확정. 역할 표기는 실제 수행 범위 기준.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6C8CE"/>
                </a:solidFill>
                <a:latin typeface="Malgun Gothic"/>
                <a:ea typeface="Malgun Gothic"/>
                <a:cs typeface="Malgun Gothic"/>
              </a:rPr>
              <a:t>OUR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AXDevHub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포에시아가 직접 만들고 운영하는 SI·SW 개발 생태계 허브.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7DDE1"/>
                </a:solidFill>
                <a:latin typeface="Malgun Gothic"/>
                <a:ea typeface="Malgun Gothic"/>
                <a:cs typeface="Malgun Gothic"/>
              </a:rPr>
              <a:t>사업·과제부터 프로젝트·인력·커뮤니티까지 한곳에서 — 개발자와 기업을 잇습니다.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2430703" cy="914400"/>
          </a:xfrm>
          <a:prstGeom prst="rect">
            <a:avLst/>
          </a:prstGeom>
          <a:solidFill>
            <a:srgbClr val="D8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2430703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사업·과제 인텔리전스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7983" y="3063240"/>
            <a:ext cx="2430703" cy="914400"/>
          </a:xfrm>
          <a:prstGeom prst="rect">
            <a:avLst/>
          </a:prstGeom>
          <a:solidFill>
            <a:srgbClr val="D8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7983" y="3063240"/>
            <a:ext cx="2430703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프로젝트 매칭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6" y="3063240"/>
            <a:ext cx="2430703" cy="914400"/>
          </a:xfrm>
          <a:prstGeom prst="rect">
            <a:avLst/>
          </a:prstGeom>
          <a:solidFill>
            <a:srgbClr val="D8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6" y="3063240"/>
            <a:ext cx="2430703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인재풀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8029" y="3063240"/>
            <a:ext cx="2430703" cy="914400"/>
          </a:xfrm>
          <a:prstGeom prst="rect">
            <a:avLst/>
          </a:prstGeom>
          <a:solidFill>
            <a:srgbClr val="D8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8029" y="3063240"/>
            <a:ext cx="2430703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개발자 커뮤니티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545775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사업적 의미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7DDE1"/>
                </a:solidFill>
                <a:latin typeface="Malgun Gothic"/>
                <a:ea typeface="Malgun Gothic"/>
                <a:cs typeface="Malgun Gothic"/>
              </a:rPr>
              <a:t>· 포에시아의 B2C 시장 진입 거점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7DDE1"/>
                </a:solidFill>
                <a:latin typeface="Malgun Gothic"/>
                <a:ea typeface="Malgun Gothic"/>
                <a:cs typeface="Malgun Gothic"/>
              </a:rPr>
              <a:t>· 직접 운영을 통한 제품·운영 노하우 내재화 → SI·영업 자산으로 환류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577840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30175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AXDevHub 바로가기 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구독형 AI 서비스 (AICC)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초기 투자 부담 없이, 필요한 만큼 구독형으로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01898" cy="365760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04872"/>
            <a:ext cx="2789834" cy="31455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구독형 STT/TA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실시간·배치 음성인식과 자연어 처리. 유형분류·감정분석·요약으로 상담 후처리를 지원.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실시간/배치 음성인식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유형분류·감정분석·요약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콜센터·금융·의료·공공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4898" y="2148840"/>
            <a:ext cx="3301898" cy="3657600"/>
          </a:xfrm>
          <a:prstGeom prst="rect">
            <a:avLst/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930" y="2404872"/>
            <a:ext cx="2789834" cy="31455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구독형 상담지원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실시간 상담 음성인식, 관리자 모니터링, KMS 연동·생성형 상담 가이드.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실시간 상담 음성인식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KMS 연동 상담 가이드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생성형 상담 가이드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6836" y="2148840"/>
            <a:ext cx="3301898" cy="365760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2868" y="2404872"/>
            <a:ext cx="2789834" cy="31455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구독형 콜봇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보이스게이트웨이·STT·TTS·생성형 답변 기반 24시간 무중단 AI 음성 상담.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내부문서 기반 AI 답변(RAG)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할루시네이션 방지·상담사 연동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금융·헬스케어·이커머스·공공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AI 기술 역량 한눈에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단일 제품이 아니라, 4계층을 조합해 고객 도메인에 맞게 구축하는 통합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292608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926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기반제품 (Engine &amp; 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240280"/>
            <a:ext cx="7525512" cy="8686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240280"/>
            <a:ext cx="72237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PoB-STT · PoB-TTS · PoB-Vision · PoB-Defence · PoB-LLM · PoB-VoiceGW-PBX · PoB-Record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73552"/>
            <a:ext cx="292608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73552"/>
            <a:ext cx="2926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기술제품 (Solution)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273552"/>
            <a:ext cx="7525512" cy="8686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273552"/>
            <a:ext cx="72237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PoS-Callbot · PoS-ChatBot-Hybrid · PoS-Assist · PoS-AutoQA · PoS-STT/TA · PoS-Messenger · PoS-RPA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06824"/>
            <a:ext cx="292608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06824"/>
            <a:ext cx="2926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응용제품 (Application)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306824"/>
            <a:ext cx="7525512" cy="8686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4306824"/>
            <a:ext cx="72237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PoA-AICC · PoA-AI Agent · PoA-HyperAutomation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40096"/>
            <a:ext cx="292608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0096"/>
            <a:ext cx="2926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플랫폼 (Platform)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5340096"/>
            <a:ext cx="7525512" cy="8686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340096"/>
            <a:ext cx="72237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PoP-MLOps · PoP-AutoML · PoP-DevOps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FLAGSHIP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AICC · 콜봇 — 생성형·RAG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단순 안내를 넘어, 생성형 AI 상담으로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676656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PoA-AICC — 통합 채널 AI 콜센터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전화·챗봇·콜봇 채널 통합 + 감정분석 기반 Voice Bot + 상담지원·생성형 상담 가이드.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2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구성: STT · TTS · Defence · VoiceGW · ChatBot · Assist · Callbot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PoS-Callbot — 전문상담 콜봇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내부문서·매뉴얼 기반 생성형 답변(RAG), 할루시네이션 방지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24시간 무중단 자동 상담 → 상담사 업무 절감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기존 콜인프라 활용, 소규모도 합리적 비용 구축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•  상담사 연동·부재 시 녹음/아웃바운드 지원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적용: 금융·헬스케어·이커머스·공공·IT/SaaS</a:t>
            </a:r>
          </a:p>
        </p:txBody>
      </p:sp>
      <p:pic>
        <p:nvPicPr>
          <p:cNvPr id="7" name="Picture 6" descr="product_call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651760"/>
            <a:ext cx="2743200" cy="816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19088"/>
            <a:ext cx="105457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기술로 일상을 혁신합니다.  ·  POESIA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FLAGSHIP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45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보안 · 신분증인식 — 방어 가능한 차별점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6400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888890"/>
                </a:solidFill>
                <a:latin typeface="Malgun Gothic"/>
                <a:ea typeface="Malgun Gothic"/>
                <a:cs typeface="Malgun Gothic"/>
              </a:rPr>
              <a:t>AI 시대일수록 더 중요한 '안전한 데이터 활용'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676656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PoB-Defence — 민감정보 보안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정형·비정형 데이터 내 민감정보(주민·계좌·카드·여권·면허·주소·전화) 탐지 → 단/양방향 암호화·마스킹. 욕설·개인정보 필터, REST API 연동.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Malgun Gothic"/>
                <a:ea typeface="Malgun Gothic"/>
                <a:cs typeface="Malgun Gothic"/>
              </a:rPr>
              <a:t>PoB-Vision — 신분증인식(자체 OCR)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5A5A60"/>
                </a:solidFill>
                <a:latin typeface="Malgun Gothic"/>
                <a:ea typeface="Malgun Gothic"/>
                <a:cs typeface="Malgun Gothic"/>
              </a:rPr>
              <a:t>신분증 4종(주민·면허·외국인·여권) 자동 분류·인식, 개인정보 자동 마스킹.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B2B35"/>
                </a:solidFill>
                <a:latin typeface="Malgun Gothic"/>
                <a:ea typeface="Malgun Gothic"/>
                <a:cs typeface="Malgun Gothic"/>
              </a:rPr>
              <a:t>인식률 95% 이상 (주민 99.31% · 면허 98.67% · 외국인 100% · 여권 99.68%)</a:t>
            </a:r>
          </a:p>
        </p:txBody>
      </p:sp>
      <p:pic>
        <p:nvPicPr>
          <p:cNvPr id="7" name="Picture 6" descr="product_info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651760"/>
            <a:ext cx="2743200" cy="8204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5669280"/>
            <a:ext cx="10545775" cy="502920"/>
          </a:xfrm>
          <a:prstGeom prst="rect">
            <a:avLst/>
          </a:prstGeom>
          <a:solidFill>
            <a:srgbClr val="2B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457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성능 요약   ·   STT 95%+ (42,500시간 학습)   ·   TTS MOS 4.3+   ·   신분증 95%+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Complete The Value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포에시아와 함께 가치 있는 비즈니스를 만드세요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45775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주식회사 포에시아 · 대표 조연우 · 사업자등록번호 475-87-02542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경기도 남양주시 화도읍 마석중앙로37번길 45, 504호-D152호(별나라프라자)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TEL [확인]  ·  FAX [확인]  ·  hello@smilewithpoesia.com  ·  www.smilewithpoesia.com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